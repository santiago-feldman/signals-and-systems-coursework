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28063B-0BD6-46B7-8B50-0A26CEE26FA7}">
  <a:tblStyle styleId="{9028063B-0BD6-46B7-8B50-0A26CEE26F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ff81c3d567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ff81c3d567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f81c3d567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ff81c3d567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f81c3d567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ff81c3d56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f81c3d567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f81c3d567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f81c3d567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f81c3d567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f81c3d567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f81c3d567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ff81c3d567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ff81c3d567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ff81c3d567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ff81c3d567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f81c3d567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f81c3d56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f81c3d567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f81c3d567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f81c3d567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f81c3d567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ff914b46c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ff914b46c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f914b46c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ff914b46c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ff90f2e51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ff90f2e5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ff90f2e51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ff90f2e51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ff90f2e51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ff90f2e51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02a4c9af1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02a4c9af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02a4c9af1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02a4c9af1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02a4c9af19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02a4c9af19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f914b46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ff914b46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f914b46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ff914b46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02a4c9af1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02a4c9af1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31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Trabajo Práctico de Simulación N°1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Santiago Feldman, Tomás Agustín Castro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</a:t>
            </a:r>
            <a:r>
              <a:rPr lang="es"/>
              <a:t>te 1: </a:t>
            </a:r>
            <a:r>
              <a:rPr lang="es"/>
              <a:t>f.d.p. conjunta de dos variables aleatorias Gaussianas correlacionadas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9500" y="936600"/>
            <a:ext cx="2707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 de simulación de Montecarlo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100" y="776850"/>
            <a:ext cx="4437150" cy="358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50" y="2457201"/>
            <a:ext cx="3807200" cy="6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366350" y="1692300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Generación de números pseudoaleatorios de 0 a 1: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5833"/>
              <a:buFont typeface="Arial"/>
              <a:buNone/>
            </a:pPr>
            <a:r>
              <a:rPr lang="es"/>
              <a:t>Método de simulación de Montecarlo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53775" y="1692303"/>
            <a:ext cx="2808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Lato"/>
              <a:buChar char="●"/>
            </a:pPr>
            <a:r>
              <a:rPr lang="es"/>
              <a:t>Obtención de las distribuciones de Rayleigh y uniforme de 0 a 2π: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821" y="660597"/>
            <a:ext cx="4624426" cy="183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927" y="2707925"/>
            <a:ext cx="5042223" cy="19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775" y="3247402"/>
            <a:ext cx="3282800" cy="8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775" y="2296493"/>
            <a:ext cx="2236500" cy="4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8800" y="2417981"/>
            <a:ext cx="490500" cy="18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775" y="2804846"/>
            <a:ext cx="1724165" cy="227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 de simulación de Montecarlo</a:t>
            </a:r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300" y="1001275"/>
            <a:ext cx="4372575" cy="14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319500" y="1748425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Transformación de coordenadas polares a cartesianas:</a:t>
            </a:r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350" y="2330125"/>
            <a:ext cx="15960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500" y="3283450"/>
            <a:ext cx="4321176" cy="157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4900" y="3283450"/>
            <a:ext cx="4321176" cy="1577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9500" y="12758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5833"/>
              <a:buFont typeface="Arial"/>
              <a:buNone/>
            </a:pPr>
            <a:r>
              <a:rPr lang="es"/>
              <a:t>Variables aleatorias normales independientes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689500" y="3666475"/>
            <a:ext cx="4282800" cy="26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las varianzas de las normales son distintas, las curvas de nivel son elipses y no circunferencias.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Como las variables son independientes, los ejes de las elipses son paralelos a los ejes de coordenadas.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425" y="189725"/>
            <a:ext cx="4282949" cy="324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00" y="1905000"/>
            <a:ext cx="3780323" cy="324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8"/>
          <p:cNvCxnSpPr/>
          <p:nvPr/>
        </p:nvCxnSpPr>
        <p:spPr>
          <a:xfrm>
            <a:off x="3275025" y="3796950"/>
            <a:ext cx="1265700" cy="1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8"/>
          <p:cNvCxnSpPr/>
          <p:nvPr/>
        </p:nvCxnSpPr>
        <p:spPr>
          <a:xfrm>
            <a:off x="615600" y="3506375"/>
            <a:ext cx="30447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8"/>
          <p:cNvCxnSpPr/>
          <p:nvPr/>
        </p:nvCxnSpPr>
        <p:spPr>
          <a:xfrm flipH="1">
            <a:off x="2067550" y="2153075"/>
            <a:ext cx="3600" cy="26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aleatorias normales correlacionadas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4700"/>
            <a:ext cx="3108351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000" y="1844700"/>
            <a:ext cx="5270324" cy="9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63950"/>
            <a:ext cx="4127325" cy="153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8100" y="3462050"/>
            <a:ext cx="4127324" cy="1536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f.d.p. conjunta de las variables aleatorias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400" y="308975"/>
            <a:ext cx="4790150" cy="362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00" y="1936152"/>
            <a:ext cx="3633500" cy="307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0"/>
          <p:cNvCxnSpPr/>
          <p:nvPr/>
        </p:nvCxnSpPr>
        <p:spPr>
          <a:xfrm>
            <a:off x="3040175" y="3757800"/>
            <a:ext cx="1526700" cy="4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0"/>
          <p:cNvSpPr txBox="1"/>
          <p:nvPr/>
        </p:nvSpPr>
        <p:spPr>
          <a:xfrm>
            <a:off x="4572000" y="3995950"/>
            <a:ext cx="266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La orientación de las elipses indica que las variables tienen un coeficiente de correlación negativo.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5" y="3995950"/>
            <a:ext cx="4286792" cy="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</a:t>
            </a:r>
            <a:r>
              <a:rPr lang="es"/>
              <a:t>2: dos variables aleatorias conjuntamente gaussianas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61899" l="0" r="0" t="0"/>
          <a:stretch/>
        </p:blipFill>
        <p:spPr>
          <a:xfrm>
            <a:off x="387250" y="582975"/>
            <a:ext cx="2457450" cy="3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50" y="998050"/>
            <a:ext cx="2941600" cy="28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250" y="3991975"/>
            <a:ext cx="3256900" cy="6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0425" y="1899725"/>
            <a:ext cx="3256900" cy="275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1650" y="582975"/>
            <a:ext cx="3065675" cy="12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00" y="1062563"/>
            <a:ext cx="3559425" cy="30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236" y="1062575"/>
            <a:ext cx="3559363" cy="301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5498975" y="736475"/>
            <a:ext cx="36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 rotWithShape="1">
          <a:blip r:embed="rId5">
            <a:alphaModFix/>
          </a:blip>
          <a:srcRect b="0" l="0" r="0" t="63023"/>
          <a:stretch/>
        </p:blipFill>
        <p:spPr>
          <a:xfrm>
            <a:off x="407700" y="549900"/>
            <a:ext cx="2457450" cy="3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5184725" y="693275"/>
            <a:ext cx="44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Efecto del signo del coeficiente de correlación: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2" name="Google Shape;162;p23"/>
          <p:cNvCxnSpPr/>
          <p:nvPr/>
        </p:nvCxnSpPr>
        <p:spPr>
          <a:xfrm>
            <a:off x="7800550" y="1126825"/>
            <a:ext cx="561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3: señal binaria semialeatoria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Situación</a:t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3">
            <a:alphaModFix/>
          </a:blip>
          <a:srcRect b="7045" l="9073" r="6052" t="4122"/>
          <a:stretch/>
        </p:blipFill>
        <p:spPr>
          <a:xfrm>
            <a:off x="97699" y="971225"/>
            <a:ext cx="4905327" cy="35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/>
        </p:nvSpPr>
        <p:spPr>
          <a:xfrm>
            <a:off x="5076875" y="826150"/>
            <a:ext cx="3747000" cy="4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Consideramos un proceso aleatorio con un número arbitrariamente grande de señales binarias semialeatorias, cada una es arbitrariamente larga.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Por simplicidad, haremos el análisis en tiempos discretos, es decir para los enteros positivos: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 ~ t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 ~ [0, T)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 ~ [T, 2T)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 ~ [(N-1)T, NT)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Definiciones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453050" y="972725"/>
            <a:ext cx="81018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Media en el ensamble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para el n-ésimo instante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u[X[n]]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Media en el tiempo para la i-ésima señal: &lt;Xi&gt;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Varianza en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el ensamble ‘’’’ : V[X[n]]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Varianza en el tiempo ‘’’’: V[Xi]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Autocorr. en el ensamble ‘’’’: Rxx(k, k+n) = u[X[k]*X[k+n]]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Autocorr. en el tiempo ‘’’’: Rxx(n) = &lt;Xi[k]*Xi[k+n]&gt;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Autocov. en el ensamble ‘’’’: Cxx(k, k+n) = Rxx(k, n) - u[X[k]]*u[X[k+n]]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Autocov. en el tiempo ‘’’’: Cxx(n) = Rxx(n) - &lt;Xi&gt;*&lt;Xi&gt;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→ La autocorr. en el ensamble es: rxx(n) = Cxx(k, k+n) / raíz*(Cxx(k,k)*Cxx(n,n))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→ La autocorr. en tiempo es: rxx(n) = Cxx(n) / Cxx(0)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Distribución discreta binaria uniforme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546325" y="1159275"/>
            <a:ext cx="8115000" cy="3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Consideremos una variable aleatoria discreta y binaria X, con probabilidades simétricas de 0,5 para los valores 1 y -1.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 ya bien sabido que la media y la varianza de dicha variable valen 0 y 1 respectivamente.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Supongamos el promedio definido por: (1/N) * ∑</a:t>
            </a:r>
            <a:r>
              <a:rPr baseline="-25000"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k=1</a:t>
            </a:r>
            <a:r>
              <a:rPr baseline="30000"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X[k] ; donde cada X[k] es una variable aleatoria con los parámetros ya mencionados.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Las variables son independientes e idénticamente distribuídas. Por el teorema central del límite, el promedio converge a una distribución normal gaussiana estándar N(0, 1).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s"/>
              <a:t>Combinaciones entre variables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506350" y="1279200"/>
            <a:ext cx="84216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 se multiplican dos pares de variables diferentes cualesquiera (con las propiedades mencionadas anteriormente), X[i] * X[j]: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 i != j, la distribución que resulta del producto sigue teniendo iguales características al ponderar las cuatro combinaciones posibles.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 i == j, la variable pasa a ser determinística con un valor de 1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Por lo tanto, el promedio (1/N) 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* ∑</a:t>
            </a:r>
            <a:r>
              <a:rPr baseline="-25000"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k=1</a:t>
            </a:r>
            <a:r>
              <a:rPr baseline="30000"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X[k]*X[k+n]  converge a 1 si n = 0, o a 0 en caso contrario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conclusión</a:t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306475" y="1399150"/>
            <a:ext cx="86346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Sea X una señal binaria semialeatoria de tiempo discreto con amplitudes 1 y -1. Las variables ponderadas en los promedios temporales y de ensamble son todas de iguales parámetros, por lo tanto se concluye que la señal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 ergódica en la media, la cual converge a cero.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 ergódica en la varianza, la cual 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converge a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uno.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 ergódica en la autocorrelación y autocovarianza, las cuales 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convergen a</a:t>
            </a: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uno si n = 0, o cero sino.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Es ergódica en el coeficiente de autocorrelación, el cual converge a uno si n = 0, o cero sino.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185050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endParaRPr/>
          </a:p>
        </p:txBody>
      </p:sp>
      <p:sp>
        <p:nvSpPr>
          <p:cNvPr id="204" name="Google Shape;204;p30"/>
          <p:cNvSpPr txBox="1"/>
          <p:nvPr/>
        </p:nvSpPr>
        <p:spPr>
          <a:xfrm>
            <a:off x="138475" y="744700"/>
            <a:ext cx="3880800" cy="4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E = esperanza(X, i)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E = sum(X(:, i))/length(X(:,1));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E = esperanza_temporal(X)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E = sum(X)/length(X);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V = varianza(X, i)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V = sum(X(:, i) .* X(:, i))/length(X(:,1));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V = varianza_temporal(X)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V = sum(X .* X)/length(X);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Rxx = autocorrelacion(X, i, j)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Rxx = (sum(X(:, i) .* X(:, j)))/length(X(:,1));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Rxx = autocorrelacion_temporal(X, n)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sum = 0;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for k=1:(length(X)-n)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	sum = sum + X(k)*X(k+n);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Rxx = sum/length(X);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3917600" y="744700"/>
            <a:ext cx="5529900" cy="3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Cxx = autocovarianza(X, i, j)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Cxx = autocorrelacion(X, i, j) - esperanza(X, i)*esperanza(X, j);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Cxx = autocovarianza_temporal(X, n)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sum = 0;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for k=1:(length(X)-n)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	sum = sum + X(k)*X(k+n) - esperanza_temporal(X)*esperanza_temporal(X);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Cxx = sum/length(X);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rxx = coeficiente_r(X, i, j)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rxx = ((autocovarianza(X, i, j)) / sqrt(autocovarianza(X, i, i)*autocovarianza(X, j, j)));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function rxx = coeficiente_r_temporal(X, n)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rxx = autocovarianza_temporal(X, n) / autocovarianza_temporal(X, 0);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endParaRPr/>
          </a:p>
        </p:txBody>
      </p:sp>
      <p:sp>
        <p:nvSpPr>
          <p:cNvPr id="211" name="Google Shape;211;p31"/>
          <p:cNvSpPr txBox="1"/>
          <p:nvPr/>
        </p:nvSpPr>
        <p:spPr>
          <a:xfrm>
            <a:off x="213200" y="1359175"/>
            <a:ext cx="39309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 = 10000;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 = 10000;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X = 2*randi([0 1], N, L)-1;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 = zeros(1, 10000);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for i=1:10000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p(i) = esperanza_temporal(X(i, :));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histogram(p)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525" y="811088"/>
            <a:ext cx="4695100" cy="35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213200" y="1359175"/>
            <a:ext cx="39309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 = 10000;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 = 10000;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X = 2*randi([0 1], N, L)-1;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 = zeros(1, 10000);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for i=1:10000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p(i) = esperanza_temporal(X(:, i));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histogram(p)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500" y="937075"/>
            <a:ext cx="4695100" cy="35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Simulación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586300" y="1252550"/>
            <a:ext cx="8088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Ejemplo de simulación para un ensamble de N señales, donde cada una es de largo L.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26" name="Google Shape;226;p33"/>
          <p:cNvGraphicFramePr/>
          <p:nvPr/>
        </p:nvGraphicFramePr>
        <p:xfrm>
          <a:off x="112950" y="211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{9028063B-0BD6-46B7-8B50-0A26CEE26FA7}</a:tableStyleId>
              </a:tblPr>
              <a:tblGrid>
                <a:gridCol w="698200"/>
                <a:gridCol w="815575"/>
                <a:gridCol w="961150"/>
                <a:gridCol w="1037550"/>
                <a:gridCol w="878125"/>
                <a:gridCol w="878125"/>
                <a:gridCol w="878125"/>
                <a:gridCol w="878125"/>
                <a:gridCol w="878125"/>
                <a:gridCol w="878125"/>
              </a:tblGrid>
              <a:tr h="39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N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L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u[X(7)]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&lt;u[X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V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[X(9)]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&lt;V[X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2"/>
                          </a:solidFill>
                        </a:rPr>
                        <a:t>R[X(11,14)]</a:t>
                      </a:r>
                      <a:endParaRPr b="1"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&lt;R[X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r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[X(5,6)]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&lt;r[X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-0,1919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-0,1214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-0,0153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-0,1524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-0,0133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-0,0178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-0,0108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0,0102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0,0054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Simulación</a:t>
            </a:r>
            <a:endParaRPr/>
          </a:p>
        </p:txBody>
      </p:sp>
      <p:sp>
        <p:nvSpPr>
          <p:cNvPr id="232" name="Google Shape;232;p34"/>
          <p:cNvSpPr txBox="1"/>
          <p:nvPr/>
        </p:nvSpPr>
        <p:spPr>
          <a:xfrm>
            <a:off x="586300" y="1252550"/>
            <a:ext cx="8088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Ejemplo de simulación para un ensamble de N señales, donde cada una es de largo L.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33" name="Google Shape;233;p34"/>
          <p:cNvGraphicFramePr/>
          <p:nvPr/>
        </p:nvGraphicFramePr>
        <p:xfrm>
          <a:off x="112950" y="224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{9028063B-0BD6-46B7-8B50-0A26CEE26FA7}</a:tableStyleId>
              </a:tblPr>
              <a:tblGrid>
                <a:gridCol w="698200"/>
                <a:gridCol w="815575"/>
                <a:gridCol w="961150"/>
                <a:gridCol w="1037550"/>
                <a:gridCol w="878125"/>
                <a:gridCol w="878125"/>
                <a:gridCol w="878125"/>
                <a:gridCol w="878125"/>
                <a:gridCol w="878125"/>
                <a:gridCol w="878125"/>
              </a:tblGrid>
              <a:tr h="39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N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L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2"/>
                          </a:solidFill>
                        </a:rPr>
                        <a:t>R[X(11,14)]</a:t>
                      </a:r>
                      <a:endParaRPr b="1"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&lt;R[X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2"/>
                          </a:solidFill>
                        </a:rPr>
                        <a:t>R[X(4,7)]</a:t>
                      </a:r>
                      <a:endParaRPr b="1"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&lt;R[X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2"/>
                          </a:solidFill>
                        </a:rPr>
                        <a:t>R[X(1,1)]</a:t>
                      </a:r>
                      <a:endParaRPr b="1"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&lt;R[X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2"/>
                          </a:solidFill>
                        </a:rPr>
                        <a:t>R[X(3,3)]</a:t>
                      </a:r>
                      <a:endParaRPr b="1"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2"/>
                          </a:solidFill>
                        </a:rPr>
                        <a:t>&lt;R[X</a:t>
                      </a:r>
                      <a:r>
                        <a:rPr b="1" baseline="-25000" lang="es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s">
                          <a:solidFill>
                            <a:schemeClr val="dk2"/>
                          </a:solidFill>
                        </a:rPr>
                        <a:t>]&gt;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0,2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-0,15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-0,4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</a:rPr>
                        <a:t>0,15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</a:rPr>
                        <a:t>0,01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</a:rPr>
                        <a:t>-0,025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-0,004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0,0022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318500" y="1800750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